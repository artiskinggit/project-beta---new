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 Introduce the team briefly by name. State the one-line pitch: AgroFast combines an AI crop-disease scanner with full farm management in a single app. Keep this slide under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audience in why this project matters before showing the app. Optional stat if asked: the FAO estimates pests and diseases destroy roughly 20-40% of global crop yields each year -- use only if it comes up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roadmap slide -- six pillars, quick preview only. Don't explain each one yet, that's the next two slides. Keep this to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most time on the scanner -- it's the technical centerpiece. Mention the ~91-92% validation accuracy figure here if it flows naturally, full detail comes on the AI model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assistant is a good demo moment -- it can answer in the user's own language and reference their real farm data. Mention offline build briefly; it's a bonus, not the core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bottom: browser talks to FastAPI, FastAPI calls the ML pipeline or Gemini, and Firebase holds all user data. Good slide to pause on for technical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technical but not a code walkthrough. If asked 'why MobileNetV2', the answer is transfer learning: a small team can't train a CNN from scratch on a tiny CPU-trained dataset, so we start from ImageNet-pretrained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cue card for the presenter driving the demo, not for the audience to read closely -- move to the actual running app right after it. Have a backup screen recording ready in case live internet/location APIs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meant to show engineering maturity, not weakness -- every limitation here is documented in the repo with a plan attached. If a marker pushes on any of these, that's a good sign they're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ONE of these to make concrete with a short story or example if time allows -- 'imagine a smallholder maize farmer in...' lands better than reading all four abstractly.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Roles here are placeholders -- swap in what each person actually owned before presenting. Each person should be ready to speak to their own slide/section.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realistic next-steps list, not vaporware -- each item ties directly back to a limitation named on the challenges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Decide beforehand who fields which type of question (e.g. Bono for model questions, Arthur for architecture) so answers don't collide.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stainable_farm.png"/>
          <p:cNvPicPr>
            <a:picLocks noChangeAspect="1"/>
          </p:cNvPicPr>
          <p:nvPr/>
        </p:nvPicPr>
        <p:blipFill>
          <a:blip r:embed="rId2"/>
          <a:srcRect l="18667" r="18667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-2103120" y="4480560"/>
            <a:ext cx="4572000" cy="45720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roFast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371600" cy="137160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822960" y="23317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2C55E"/>
                </a:solidFill>
                <a:latin typeface="Calibri"/>
              </a:rPr>
              <a:t>GROUP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F5F7F5"/>
                </a:solidFill>
                <a:latin typeface="Calibri"/>
              </a:rPr>
              <a:t>AgroFast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1">
                <a:solidFill>
                  <a:srgbClr val="A9B8AE"/>
                </a:solidFill>
                <a:latin typeface="Calibri"/>
              </a:rPr>
              <a:t>AI-powered crop diagnostics and farm management, in one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28478"/>
                </a:solidFill>
                <a:latin typeface="Calibri"/>
              </a:rPr>
              <a:t>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57800"/>
            <a:ext cx="905256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9052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Arthur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65376" y="5257800"/>
            <a:ext cx="694944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5257800"/>
            <a:ext cx="69494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Bono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5257800"/>
            <a:ext cx="1115568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5257800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Paballoo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5257800"/>
            <a:ext cx="1220724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5257800"/>
            <a:ext cx="122072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Ipfilanga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8092" y="5257800"/>
            <a:ext cx="1115568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8092" y="5257800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Tshepang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0820" y="5257800"/>
            <a:ext cx="1010412" cy="438912"/>
          </a:xfrm>
          <a:prstGeom prst="roundRect">
            <a:avLst>
              <a:gd name="adj" fmla="val 5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0820" y="5257800"/>
            <a:ext cx="10104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5"/>
                </a:solidFill>
                <a:latin typeface="Calibri"/>
              </a:rPr>
              <a:t>Temwani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Farmers decide with too little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074920" cy="1371600"/>
          </a:xfrm>
          <a:prstGeom prst="roundRect">
            <a:avLst>
              <a:gd name="adj" fmla="val 9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4884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8424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5"/>
                </a:solidFill>
                <a:latin typeface="Calibri"/>
              </a:rPr>
              <a:t>Diseases are caught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350008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By the time symptoms are obvious to the eye, yield damage is already done.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074920" cy="1371600"/>
          </a:xfrm>
          <a:prstGeom prst="roundRect">
            <a:avLst>
              <a:gd name="adj" fmla="val 9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198424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5"/>
                </a:solidFill>
                <a:latin typeface="Calibri"/>
              </a:rPr>
              <a:t>Expertise is out of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350008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Agronomists and soil labs aren't accessible to most smallholder farmers.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5074920" cy="1371600"/>
          </a:xfrm>
          <a:prstGeom prst="roundRect">
            <a:avLst>
              <a:gd name="adj" fmla="val 9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4904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49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8444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5"/>
                </a:solidFill>
                <a:latin typeface="Calibri"/>
              </a:rPr>
              <a:t>Records live 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50208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Expenses, planting dates, and soil history are rarely tracked consistently.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074920" cy="1371600"/>
          </a:xfrm>
          <a:prstGeom prst="roundRect">
            <a:avLst>
              <a:gd name="adj" fmla="val 9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74904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58444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5"/>
                </a:solidFill>
                <a:latin typeface="Calibri"/>
              </a:rPr>
              <a:t>Planting is a guessing 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950208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Decisions are made without reliable local weather or market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Diagnose, manage,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A9B8AE"/>
                </a:solidFill>
                <a:latin typeface="Calibri"/>
              </a:rPr>
              <a:t>AgroFast pairs an AI leaf scanner with practical farm-management tools and a conversational assistant — so every decision is backed by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640080"/>
            <a:ext cx="3429000" cy="3429000"/>
          </a:xfrm>
          <a:prstGeom prst="roundRect">
            <a:avLst>
              <a:gd name="adj" fmla="val 6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_scann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83879" y="731520"/>
            <a:ext cx="3246120" cy="3246120"/>
          </a:xfrm>
          <a:prstGeom prst="rect">
            <a:avLst/>
          </a:prstGeom>
          <a:effectLst/>
        </p:spPr>
      </p:pic>
      <p:sp>
        <p:nvSpPr>
          <p:cNvPr id="7" name="Rounded Rectangle 6"/>
          <p:cNvSpPr/>
          <p:nvPr/>
        </p:nvSpPr>
        <p:spPr>
          <a:xfrm>
            <a:off x="822960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8740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8740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04388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4388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Manage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60036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36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Predict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15684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5684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Track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71331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1331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416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Advise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834640"/>
            <a:ext cx="1554480" cy="160020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26980" y="3086100"/>
            <a:ext cx="502920" cy="50292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26980" y="30861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370332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5F7F5"/>
                </a:solidFill>
                <a:latin typeface="Calibri"/>
              </a:rPr>
              <a:t>Go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728478"/>
                </a:solidFill>
                <a:latin typeface="Calibri"/>
              </a:rPr>
              <a:t>Next two slides: a closer look at each pillar.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KEY FEATURES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Diagnose and manage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332720" cy="1874519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8428" y="2377439"/>
            <a:ext cx="685800" cy="6858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" y="2377439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94767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5"/>
                </a:solidFill>
                <a:latin typeface="Calibri"/>
              </a:rPr>
              <a:t>AI Crop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31720"/>
            <a:ext cx="71323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Upload a leaf photo to get crop type, disease diagnosis, a confidence score, bounding boxes on affected spots, and treatment advice. Also reads soil scans for NPK levels, pH, and suitable crops.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246120"/>
            <a:ext cx="594360" cy="320040"/>
          </a:xfrm>
          <a:prstGeom prst="roundRect">
            <a:avLst>
              <a:gd name="adj" fmla="val 50000"/>
            </a:avLst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24612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2C55E"/>
                </a:solidFill>
                <a:latin typeface="Calibri"/>
              </a:rPr>
              <a:t>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24612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24612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2C55E"/>
                </a:solidFill>
                <a:latin typeface="Calibri"/>
              </a:rPr>
              <a:t>OpenCV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324612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24612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2C55E"/>
                </a:solidFill>
                <a:latin typeface="Calibri"/>
              </a:rPr>
              <a:t>PlantCV</a:t>
            </a:r>
          </a:p>
        </p:txBody>
      </p:sp>
      <p:pic>
        <p:nvPicPr>
          <p:cNvPr id="15" name="Picture 14" descr="ai_scann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18320" y="1920240"/>
            <a:ext cx="1600199" cy="1600199"/>
          </a:xfrm>
          <a:prstGeom prst="rect">
            <a:avLst/>
          </a:prstGeom>
          <a:effectLst/>
        </p:spPr>
      </p:pic>
      <p:sp>
        <p:nvSpPr>
          <p:cNvPr id="16" name="Rounded Rectangle 15"/>
          <p:cNvSpPr/>
          <p:nvPr/>
        </p:nvSpPr>
        <p:spPr>
          <a:xfrm>
            <a:off x="822960" y="3840480"/>
            <a:ext cx="10332720" cy="1874519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8428" y="4434840"/>
            <a:ext cx="685800" cy="6858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8428" y="44348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00507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5"/>
                </a:solidFill>
                <a:latin typeface="Calibri"/>
              </a:rPr>
              <a:t>Manage Farms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389120"/>
            <a:ext cx="603504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Track multiple farm plots at once — soil type, irrigation method, water source, planting dates, and live NPK nutrient levels updated from each farm 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530352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530352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2C55E"/>
                </a:solidFill>
                <a:latin typeface="Calibri"/>
              </a:rPr>
              <a:t>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KEY FEATURES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Plan, spend, and get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332720" cy="1600200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8428" y="2240280"/>
            <a:ext cx="685800" cy="6858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" y="22402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94767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5"/>
                </a:solidFill>
                <a:latin typeface="Calibri"/>
              </a:rPr>
              <a:t>Smart Crop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31720"/>
            <a:ext cx="60350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Auto-detects location to pull live weather, then scores crop profitability month-by-month: 40% weather fit plus 60% projected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97180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9718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2C55E"/>
                </a:solidFill>
                <a:latin typeface="Calibri"/>
              </a:rPr>
              <a:t>Open-Meteo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10332720" cy="1280160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" y="3817620"/>
            <a:ext cx="685800" cy="6858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" y="38176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8503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5"/>
                </a:solidFill>
                <a:latin typeface="Calibri"/>
              </a:rPr>
              <a:t>Expense Tracker &amp; Budget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069080"/>
            <a:ext cx="60350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A9B8AE"/>
                </a:solidFill>
                <a:latin typeface="Calibri"/>
              </a:rPr>
              <a:t>Logs spend per plot and category with visual budget meters, and warns before an expense pushes a farm over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5074920" cy="1234440"/>
          </a:xfrm>
          <a:prstGeom prst="roundRect">
            <a:avLst>
              <a:gd name="adj" fmla="val 10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394959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0140" y="539495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2C55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2578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5F7F5"/>
                </a:solidFill>
                <a:latin typeface="Calibri"/>
              </a:rPr>
              <a:t>AgroFast 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605272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Gemini-powered chat in 5 languages, aware of your own farms and scan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74920"/>
            <a:ext cx="5074920" cy="1234440"/>
          </a:xfrm>
          <a:prstGeom prst="roundRect">
            <a:avLst>
              <a:gd name="adj" fmla="val 10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5100" y="5394959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5100" y="539495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2C55E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25780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5F7F5"/>
                </a:solidFill>
                <a:latin typeface="Calibri"/>
              </a:rPr>
              <a:t>Offline Desktop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605272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An Electron-packaged version with a bundled backend for use without internet.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332720" cy="868680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C55E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83080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HTML / CSS / vanilla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No framework — served directly by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5176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39"/>
            <a:ext cx="10332720" cy="868680"/>
          </a:xfrm>
          <a:prstGeom prst="roundRect">
            <a:avLst>
              <a:gd name="adj" fmla="val 8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34639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C55E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39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FastAPI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39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/predict and /chat endpoints, static file serving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70332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0332720" cy="868680"/>
          </a:xfrm>
          <a:prstGeom prst="roundRect">
            <a:avLst>
              <a:gd name="adj" fmla="val 8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C55E"/>
                </a:solidFill>
                <a:latin typeface="Calibri"/>
              </a:rP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86200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TensorFlow · Keras · OpenCV · PlantCV · Gemini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862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Crop model inference, disease-spot detection,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7548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37760"/>
            <a:ext cx="10332720" cy="868680"/>
          </a:xfrm>
          <a:prstGeom prst="roundRect">
            <a:avLst>
              <a:gd name="adj" fmla="val 8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C55E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937760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Firebase Auth + Realtime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93776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Accounts, farms, scans, expenses, chat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AI MODEL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Inside the crop scanner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669280" cy="566928"/>
          </a:xfrm>
          <a:prstGeom prst="roundRect">
            <a:avLst>
              <a:gd name="adj" fmla="val 15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7F5"/>
                </a:solidFill>
                <a:latin typeface="Calibri"/>
              </a:rPr>
              <a:t>Input image 224×224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235000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C55E"/>
                </a:solidFill>
                <a:latin typeface="Calibri"/>
              </a:rP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96312"/>
            <a:ext cx="5669280" cy="566928"/>
          </a:xfrm>
          <a:prstGeom prst="roundRect">
            <a:avLst>
              <a:gd name="adj" fmla="val 15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7F5"/>
                </a:solidFill>
                <a:latin typeface="Calibri"/>
              </a:rPr>
              <a:t>MobileNetV2 backbone (ImageNet-pretrained)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06324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C55E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9544"/>
            <a:ext cx="5669280" cy="566928"/>
          </a:xfrm>
          <a:prstGeom prst="roundRect">
            <a:avLst>
              <a:gd name="adj" fmla="val 15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9544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7F5"/>
                </a:solidFill>
                <a:latin typeface="Calibri"/>
              </a:rPr>
              <a:t>Global Average 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776472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C55E"/>
                </a:solidFill>
                <a:latin typeface="Calibr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22776"/>
            <a:ext cx="5669280" cy="566928"/>
          </a:xfrm>
          <a:prstGeom prst="roundRect">
            <a:avLst>
              <a:gd name="adj" fmla="val 15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22776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7F5"/>
                </a:solidFill>
                <a:latin typeface="Calibri"/>
              </a:rPr>
              <a:t>Dense 512 → Dense 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897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C55E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36008"/>
            <a:ext cx="5669280" cy="566928"/>
          </a:xfrm>
          <a:prstGeom prst="roundRect">
            <a:avLst>
              <a:gd name="adj" fmla="val 15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36008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7F5"/>
                </a:solidFill>
                <a:latin typeface="Calibri"/>
              </a:rPr>
              <a:t>Output: class probabilities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009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Two-phase transfer learning: head trained first, then top backbone layers fine-tuned at a lower learning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83080"/>
            <a:ext cx="4434840" cy="118872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1874519"/>
            <a:ext cx="37947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A1712"/>
                </a:solidFill>
                <a:latin typeface="Calibri"/>
              </a:rPr>
              <a:t>~91–92%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2542032"/>
            <a:ext cx="37947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A1712"/>
                </a:solidFill>
                <a:latin typeface="Calibri"/>
              </a:rPr>
              <a:t>Validation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154680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246120"/>
            <a:ext cx="37947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C55E"/>
                </a:solidFill>
                <a:latin typeface="Calibri"/>
              </a:rPr>
              <a:t>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374904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8AE"/>
                </a:solidFill>
                <a:latin typeface="Calibri"/>
              </a:rPr>
              <a:t>Trained 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233672"/>
            <a:ext cx="4434840" cy="914400"/>
          </a:xfrm>
          <a:prstGeom prst="roundRect">
            <a:avLst>
              <a:gd name="adj" fmla="val 10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9" y="4325112"/>
            <a:ext cx="37947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C55E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4828032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8AE"/>
                </a:solidFill>
                <a:latin typeface="Calibri"/>
              </a:rPr>
              <a:t>Training phases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58383"/>
            <a:ext cx="4434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Data augmentation (rotation, shift, zoom, brightness) and inverse-frequency class weighting keep rare classes from being ignored.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art_farm.png"/>
          <p:cNvPicPr>
            <a:picLocks noChangeAspect="1"/>
          </p:cNvPicPr>
          <p:nvPr/>
        </p:nvPicPr>
        <p:blipFill>
          <a:blip r:embed="rId2"/>
          <a:srcRect t="21874" b="2187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8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Let's switch to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0312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Sign up / log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92024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87240" y="210312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278892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Scan a crop leaf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94320" y="192024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22920" y="210312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292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2920" y="278892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Review diagnosis &amp; 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374904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3484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Check crop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8640" y="356616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87240" y="374904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7240" y="3749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7240" y="443484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Log a farm expense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94320" y="3566160"/>
            <a:ext cx="3261360" cy="137160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22920" y="3749040"/>
            <a:ext cx="548640" cy="54864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2920" y="3749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2920" y="4434840"/>
            <a:ext cx="280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5F7F5"/>
                </a:solidFill>
                <a:latin typeface="Calibri"/>
              </a:rPr>
              <a:t>Ask the 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CHALLENGES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Engineering decisions we made —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332720" cy="1005840"/>
          </a:xfrm>
          <a:prstGeom prst="roundRect">
            <a:avLst>
              <a:gd name="adj" fmla="val 6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2037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11095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Small training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911095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150 images/class train, 30 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11095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22C55E"/>
                </a:solidFill>
                <a:latin typeface="Calibri"/>
              </a:rPr>
              <a:t>CPU-only training budget; plan to expand with GPU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98648"/>
            <a:ext cx="10332720" cy="1005840"/>
          </a:xfrm>
          <a:prstGeom prst="roundRect">
            <a:avLst>
              <a:gd name="adj" fmla="val 6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31927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026664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Optimistic accuracy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266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Validation set used for both tuning and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266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22C55E"/>
                </a:solidFill>
                <a:latin typeface="Calibri"/>
              </a:rPr>
              <a:t>Next step: a true held-out test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14216"/>
            <a:ext cx="10332720" cy="1005840"/>
          </a:xfrm>
          <a:prstGeom prst="roundRect">
            <a:avLst>
              <a:gd name="adj" fmla="val 6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4348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14223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Open CORS during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1422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allow_origins="*" on the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1422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22C55E"/>
                </a:solidFill>
                <a:latin typeface="Calibri"/>
              </a:rPr>
              <a:t>Will be restricted before any public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29784"/>
            <a:ext cx="10332720" cy="1005840"/>
          </a:xfrm>
          <a:prstGeom prst="roundRect">
            <a:avLst>
              <a:gd name="adj" fmla="val 6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5504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2578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Deprecated chat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257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9B8AE"/>
                </a:solidFill>
                <a:latin typeface="Calibri"/>
              </a:rPr>
              <a:t>google-generativeai has reached end of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257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22C55E"/>
                </a:solidFill>
                <a:latin typeface="Calibri"/>
              </a:rPr>
              <a:t>Migration to google-genai is 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WHO THIS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Built for the whole farming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377440" cy="283464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14500" y="2308860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4500" y="2308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Smallholder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Fast, low-cost disease diagnosis without waiting for an expert visit.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377440" cy="283464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66259" y="2308860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6259" y="2308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06324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Commercial farm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70332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One dashboard to track multiple plots, budgets, and yields.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377440" cy="283464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18020" y="2308860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8020" y="2308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6324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Extension officers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A tool to support and scale advice across many farms at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011680"/>
            <a:ext cx="2377440" cy="2834640"/>
          </a:xfrm>
          <a:prstGeom prst="roundRect">
            <a:avLst>
              <a:gd name="adj" fmla="val 12000"/>
            </a:avLst>
          </a:prstGeom>
          <a:solidFill>
            <a:srgbClr val="16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69780" y="2308860"/>
            <a:ext cx="594360" cy="59436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9780" y="23088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06324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5F7F5"/>
                </a:solidFill>
                <a:latin typeface="Calibri"/>
              </a:rPr>
              <a:t>Students &amp; researchers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70332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An open, documented reference for applied agri-AI.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Six people, one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2140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Arthur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450592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Team Lead / Full-Stack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Backend, integration, project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828800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2960" y="210312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199" y="212140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Bono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199" y="2450592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60" y="3063240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Model training and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4320" y="1828800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68640" y="2103120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5880" y="212140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Paballoo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5880" y="2450592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8640" y="3063240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UI implementation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79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4343399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34339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36168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Ipfilanga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690871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Frontend / 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19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Design and user flows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8640" y="4069079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32960" y="4343399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960" y="434339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0199" y="436168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Tshepang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0199" y="4690871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Backend /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2960" y="5303519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Firebase and API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94320" y="4069079"/>
            <a:ext cx="3261360" cy="1965960"/>
          </a:xfrm>
          <a:prstGeom prst="roundRect">
            <a:avLst>
              <a:gd name="adj" fmla="val 10000"/>
            </a:avLst>
          </a:prstGeom>
          <a:solidFill>
            <a:srgbClr val="13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68640" y="4343399"/>
            <a:ext cx="640080" cy="64008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8640" y="434339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5880" y="4361688"/>
            <a:ext cx="202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5"/>
                </a:solidFill>
                <a:latin typeface="Calibri"/>
              </a:rPr>
              <a:t>Temwani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5880" y="4690871"/>
            <a:ext cx="2026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QA /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8640" y="5303519"/>
            <a:ext cx="271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Testing and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C55E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503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7F5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383280"/>
            <a:ext cx="9326880" cy="27432"/>
          </a:xfrm>
          <a:prstGeom prst="rect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7864" y="327812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965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5F7F5"/>
                </a:solidFill>
                <a:latin typeface="Calibri"/>
              </a:rPr>
              <a:t>Expand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3317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Collect more images per class and retrain on GPU for higher accuracy.</a:t>
            </a:r>
          </a:p>
        </p:txBody>
      </p:sp>
      <p:sp>
        <p:nvSpPr>
          <p:cNvPr id="8" name="Oval 7"/>
          <p:cNvSpPr/>
          <p:nvPr/>
        </p:nvSpPr>
        <p:spPr>
          <a:xfrm>
            <a:off x="4306824" y="327812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794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5F7F5"/>
                </a:solidFill>
                <a:latin typeface="Calibri"/>
              </a:rPr>
              <a:t>Migrate the chat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160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Move from the deprecated google-generativeai to google-genai.</a:t>
            </a:r>
          </a:p>
        </p:txBody>
      </p:sp>
      <p:sp>
        <p:nvSpPr>
          <p:cNvPr id="11" name="Oval 10"/>
          <p:cNvSpPr/>
          <p:nvPr/>
        </p:nvSpPr>
        <p:spPr>
          <a:xfrm>
            <a:off x="7415783" y="327812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5F7F5"/>
                </a:solidFill>
                <a:latin typeface="Calibri"/>
              </a:rPr>
              <a:t>Harden for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3317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Lock down CORS, add a held-out test set, tighten Firebase rules.</a:t>
            </a:r>
          </a:p>
        </p:txBody>
      </p:sp>
      <p:sp>
        <p:nvSpPr>
          <p:cNvPr id="14" name="Oval 13"/>
          <p:cNvSpPr/>
          <p:nvPr/>
        </p:nvSpPr>
        <p:spPr>
          <a:xfrm>
            <a:off x="10524744" y="327812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794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5F7F5"/>
                </a:solidFill>
                <a:latin typeface="Calibri"/>
              </a:rPr>
              <a:t>Pilot with real farmers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41605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9B8AE"/>
                </a:solidFill>
                <a:latin typeface="Calibri"/>
              </a:rPr>
              <a:t>Field-test with a small group and fold feedback into the roadmap.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284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stainable_farm.png"/>
          <p:cNvPicPr>
            <a:picLocks noChangeAspect="1"/>
          </p:cNvPicPr>
          <p:nvPr/>
        </p:nvPicPr>
        <p:blipFill>
          <a:blip r:embed="rId2"/>
          <a:srcRect l="18667" r="18667"/>
          <a:stretch>
            <a:fillRect/>
          </a:stretch>
        </p:blipFill>
        <p:spPr>
          <a:xfrm>
            <a:off x="0" y="0"/>
            <a:ext cx="4297680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9601200" y="4297680"/>
            <a:ext cx="5029200" cy="5029200"/>
          </a:xfrm>
          <a:prstGeom prst="ellipse">
            <a:avLst/>
          </a:prstGeom>
          <a:solidFill>
            <a:srgbClr val="1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377440"/>
            <a:ext cx="66138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5F7F5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246120"/>
            <a:ext cx="6613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22C55E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4343400"/>
            <a:ext cx="6613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A9B8AE"/>
                </a:solidFill>
                <a:latin typeface="Calibri"/>
              </a:rPr>
              <a:t>Arthur  •  Bono  •  Paballoo  •  Ipfilanga  •  Tshepang  •  Temwani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5074920"/>
            <a:ext cx="6613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28478"/>
                </a:solidFill>
                <a:latin typeface="Calibri"/>
              </a:rPr>
              <a:t>AgroFast — Group Project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